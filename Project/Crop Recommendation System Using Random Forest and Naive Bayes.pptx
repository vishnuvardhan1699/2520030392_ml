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6" r:id="rId1"/>
  </p:sldMasterIdLst>
  <p:sldIdLst>
    <p:sldId id="256" r:id="rId2"/>
    <p:sldId id="279" r:id="rId3"/>
    <p:sldId id="259" r:id="rId4"/>
    <p:sldId id="260" r:id="rId5"/>
    <p:sldId id="281" r:id="rId6"/>
    <p:sldId id="282" r:id="rId7"/>
    <p:sldId id="284" r:id="rId8"/>
    <p:sldId id="27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92010" autoAdjust="0"/>
  </p:normalViewPr>
  <p:slideViewPr>
    <p:cSldViewPr snapToGrid="0">
      <p:cViewPr varScale="1">
        <p:scale>
          <a:sx n="76" d="100"/>
          <a:sy n="76" d="100"/>
        </p:scale>
        <p:origin x="96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16654903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2461687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539054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395FDDF-42C6-42D4-9316-5DFE900840F9}"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796727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95FDDF-42C6-42D4-9316-5DFE900840F9}" type="datetimeFigureOut">
              <a:rPr lang="en-IN" smtClean="0"/>
              <a:t>25-08-2026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161073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395FDDF-42C6-42D4-9316-5DFE900840F9}" type="datetimeFigureOut">
              <a:rPr lang="en-IN" smtClean="0"/>
              <a:t>25-08-2026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628039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1395FDDF-42C6-42D4-9316-5DFE900840F9}" type="datetimeFigureOut">
              <a:rPr lang="en-IN" smtClean="0"/>
              <a:t>25-08-2026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34528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682288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115478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007175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9951524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4283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238450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308359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3060447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676631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899189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395FDDF-42C6-42D4-9316-5DFE900840F9}" type="datetimeFigureOut">
              <a:rPr lang="en-IN" smtClean="0"/>
              <a:t>25-08-2026</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AD6A22-0BF5-47B3-AAFB-2EB592D6F415}" type="slidenum">
              <a:rPr lang="en-IN" smtClean="0"/>
              <a:t>‹#›</a:t>
            </a:fld>
            <a:endParaRPr lang="en-IN"/>
          </a:p>
        </p:txBody>
      </p:sp>
    </p:spTree>
    <p:extLst>
      <p:ext uri="{BB962C8B-B14F-4D97-AF65-F5344CB8AC3E}">
        <p14:creationId xmlns:p14="http://schemas.microsoft.com/office/powerpoint/2010/main" val="1051449212"/>
      </p:ext>
    </p:extLst>
  </p:cSld>
  <p:clrMap bg1="dk1" tx1="lt1" bg2="dk2" tx2="lt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 id="2147483869" r:id="rId13"/>
    <p:sldLayoutId id="2147483870" r:id="rId14"/>
    <p:sldLayoutId id="2147483871" r:id="rId15"/>
    <p:sldLayoutId id="2147483872" r:id="rId16"/>
    <p:sldLayoutId id="214748387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23103" y="1336431"/>
            <a:ext cx="8716323" cy="838898"/>
          </a:xfrm>
        </p:spPr>
        <p:txBody>
          <a:bodyPr>
            <a:noAutofit/>
          </a:bodyPr>
          <a:lstStyle/>
          <a:p>
            <a:r>
              <a:rPr lang="en-IN" sz="2800" dirty="0"/>
              <a:t>Crop Recommendation System Using Random Forest and Naive Bayes</a:t>
            </a:r>
          </a:p>
        </p:txBody>
      </p:sp>
      <p:sp>
        <p:nvSpPr>
          <p:cNvPr id="3" name="Subtitle 2"/>
          <p:cNvSpPr>
            <a:spLocks noGrp="1"/>
          </p:cNvSpPr>
          <p:nvPr>
            <p:ph type="subTitle" idx="1"/>
          </p:nvPr>
        </p:nvSpPr>
        <p:spPr>
          <a:xfrm>
            <a:off x="3962399" y="2175329"/>
            <a:ext cx="7197726" cy="4170607"/>
          </a:xfrm>
        </p:spPr>
        <p:txBody>
          <a:bodyPr>
            <a:normAutofit/>
          </a:bodyPr>
          <a:lstStyle/>
          <a:p>
            <a:pPr algn="ctr"/>
            <a:r>
              <a:rPr lang="en-US" dirty="0"/>
              <a:t>COURSE : Machine learning</a:t>
            </a:r>
          </a:p>
          <a:p>
            <a:pPr algn="ctr"/>
            <a:r>
              <a:rPr lang="en-US" dirty="0"/>
              <a:t>COURSE CODE: 25SC2107E</a:t>
            </a:r>
          </a:p>
          <a:p>
            <a:pPr algn="ctr"/>
            <a:r>
              <a:rPr lang="en-US" dirty="0"/>
              <a:t>SECTION: 4</a:t>
            </a:r>
          </a:p>
          <a:p>
            <a:pPr algn="ctr"/>
            <a:r>
              <a:rPr lang="en-US" dirty="0"/>
              <a:t>Branch: CSE</a:t>
            </a:r>
          </a:p>
          <a:p>
            <a:pPr algn="ctr"/>
            <a:r>
              <a:rPr lang="en-US" dirty="0"/>
              <a:t>GUIDED BY: JYOTHSNA DATTI(Assistant professor)</a:t>
            </a:r>
          </a:p>
          <a:p>
            <a:pPr algn="ctr"/>
            <a:r>
              <a:rPr lang="en-US" dirty="0"/>
              <a:t>2520030392 –</a:t>
            </a:r>
            <a:r>
              <a:rPr lang="en-US" dirty="0" err="1"/>
              <a:t>B.Vishnu</a:t>
            </a:r>
            <a:r>
              <a:rPr lang="en-US" dirty="0"/>
              <a:t> Vardhan</a:t>
            </a:r>
          </a:p>
          <a:p>
            <a:pPr algn="ctr"/>
            <a:r>
              <a:rPr lang="en-US" dirty="0"/>
              <a:t>2520030280 – </a:t>
            </a:r>
            <a:r>
              <a:rPr lang="en-US" dirty="0" err="1"/>
              <a:t>ch.nripendra</a:t>
            </a:r>
            <a:endParaRPr lang="en-US" dirty="0"/>
          </a:p>
          <a:p>
            <a:pPr algn="ctr"/>
            <a:r>
              <a:rPr lang="en-US" dirty="0"/>
              <a:t>2026-2027</a:t>
            </a:r>
          </a:p>
        </p:txBody>
      </p:sp>
      <p:pic>
        <p:nvPicPr>
          <p:cNvPr id="4" name="Picture 3"/>
          <p:cNvPicPr>
            <a:picLocks noChangeAspect="1"/>
          </p:cNvPicPr>
          <p:nvPr/>
        </p:nvPicPr>
        <p:blipFill>
          <a:blip r:embed="rId2"/>
          <a:stretch>
            <a:fillRect/>
          </a:stretch>
        </p:blipFill>
        <p:spPr>
          <a:xfrm>
            <a:off x="0" y="0"/>
            <a:ext cx="3043170" cy="1086928"/>
          </a:xfrm>
          <a:prstGeom prst="rect">
            <a:avLst/>
          </a:prstGeom>
          <a:noFill/>
          <a:ln>
            <a:noFill/>
          </a:ln>
        </p:spPr>
      </p:pic>
    </p:spTree>
    <p:extLst>
      <p:ext uri="{BB962C8B-B14F-4D97-AF65-F5344CB8AC3E}">
        <p14:creationId xmlns:p14="http://schemas.microsoft.com/office/powerpoint/2010/main" val="639282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CONTENTS</a:t>
            </a:r>
            <a:endParaRPr lang="en-IN" dirty="0"/>
          </a:p>
        </p:txBody>
      </p:sp>
      <p:sp>
        <p:nvSpPr>
          <p:cNvPr id="3" name="Content Placeholder 2"/>
          <p:cNvSpPr>
            <a:spLocks noGrp="1"/>
          </p:cNvSpPr>
          <p:nvPr>
            <p:ph idx="1"/>
          </p:nvPr>
        </p:nvSpPr>
        <p:spPr/>
        <p:txBody>
          <a:bodyPr/>
          <a:lstStyle/>
          <a:p>
            <a:r>
              <a:rPr lang="en-US" dirty="0"/>
              <a:t>ABSTRACT </a:t>
            </a:r>
          </a:p>
          <a:p>
            <a:r>
              <a:rPr lang="en-US" dirty="0"/>
              <a:t>INTRODUCTION </a:t>
            </a:r>
          </a:p>
          <a:p>
            <a:r>
              <a:rPr lang="en-US" dirty="0"/>
              <a:t>REQUIREMENT ANALYSIS</a:t>
            </a:r>
          </a:p>
          <a:p>
            <a:r>
              <a:rPr lang="en-US" dirty="0"/>
              <a:t>20 LITERATURE PAPERS IN TABLE FORMAT </a:t>
            </a:r>
          </a:p>
          <a:p>
            <a:r>
              <a:rPr lang="en-US" dirty="0"/>
              <a:t>DATASET DESCRIPTION </a:t>
            </a:r>
          </a:p>
        </p:txBody>
      </p:sp>
    </p:spTree>
    <p:extLst>
      <p:ext uri="{BB962C8B-B14F-4D97-AF65-F5344CB8AC3E}">
        <p14:creationId xmlns:p14="http://schemas.microsoft.com/office/powerpoint/2010/main" val="1950441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439919"/>
            <a:ext cx="10131425" cy="606458"/>
          </a:xfrm>
        </p:spPr>
        <p:txBody>
          <a:bodyPr>
            <a:normAutofit fontScale="90000"/>
          </a:bodyPr>
          <a:lstStyle/>
          <a:p>
            <a:pPr algn="ctr"/>
            <a:r>
              <a:rPr lang="en-US" dirty="0"/>
              <a:t>ABSTRACT</a:t>
            </a:r>
            <a:endParaRPr lang="en-IN" dirty="0"/>
          </a:p>
        </p:txBody>
      </p:sp>
      <p:sp>
        <p:nvSpPr>
          <p:cNvPr id="3" name="Content Placeholder 2"/>
          <p:cNvSpPr>
            <a:spLocks noGrp="1"/>
          </p:cNvSpPr>
          <p:nvPr>
            <p:ph idx="1"/>
          </p:nvPr>
        </p:nvSpPr>
        <p:spPr>
          <a:xfrm>
            <a:off x="685801" y="1410547"/>
            <a:ext cx="10131425" cy="3649133"/>
          </a:xfrm>
        </p:spPr>
        <p:txBody>
          <a:bodyPr>
            <a:normAutofit fontScale="92500" lnSpcReduction="20000"/>
          </a:bodyPr>
          <a:lstStyle/>
          <a:p>
            <a:r>
              <a:rPr lang="en-IN" dirty="0"/>
              <a:t>Agriculture plays an important role in ensuring food security and supporting economic development. Selecting a suitable crop for cultivation is a challenging task because different crops require different soil and climatic conditions. Traditional crop selection methods mainly depend on farmers' experience and knowledge, which may not always provide accurate recommendations when environmental conditions change. This project proposes a Crop Recommendation System using Python and Machine Learning to recommend a suitable crop based on important agricultural parameters such as nitrogen (N), phosphorus (P), potassium (K), temperature, humidity, pH, and rainfall. The system uses a crop recommendation dataset and performs data preprocessing to prepare the data for training and testing.</a:t>
            </a:r>
          </a:p>
          <a:p>
            <a:r>
              <a:rPr lang="en-IN" dirty="0"/>
              <a:t> Two machine learning algorithms, Random Forest and Naive Bayes, are used to predict the most suitable crop for the given soil and environmental conditions. Random Forest combines multiple decision trees to provide reliable classification, while Naive Bayes uses probability-based classification to make predictions efficiently. The performance of both models is evaluated using accuracy, precision, recall, F1-score, and confusion matrix to compare their prediction performance. The main aim of this project is to provide a simple and useful system that can help farmers make better crop selection decisions based on soil and climatic conditions. The system can reduce guesswork, support efficient use of agricultural resources, improve crop selection, and contribute to more sustainable farming practices.</a:t>
            </a:r>
          </a:p>
        </p:txBody>
      </p:sp>
    </p:spTree>
    <p:extLst>
      <p:ext uri="{BB962C8B-B14F-4D97-AF65-F5344CB8AC3E}">
        <p14:creationId xmlns:p14="http://schemas.microsoft.com/office/powerpoint/2010/main" val="4221280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7115"/>
            <a:ext cx="10131425" cy="681872"/>
          </a:xfrm>
        </p:spPr>
        <p:txBody>
          <a:bodyPr/>
          <a:lstStyle/>
          <a:p>
            <a:pPr algn="ctr"/>
            <a:r>
              <a:rPr lang="en-US" dirty="0"/>
              <a:t>INTRODUCTION</a:t>
            </a:r>
            <a:endParaRPr lang="en-IN" dirty="0"/>
          </a:p>
        </p:txBody>
      </p:sp>
      <p:sp>
        <p:nvSpPr>
          <p:cNvPr id="3" name="Content Placeholder 2"/>
          <p:cNvSpPr>
            <a:spLocks noGrp="1"/>
          </p:cNvSpPr>
          <p:nvPr>
            <p:ph idx="1"/>
          </p:nvPr>
        </p:nvSpPr>
        <p:spPr>
          <a:xfrm>
            <a:off x="846056" y="1235587"/>
            <a:ext cx="10131425" cy="3649133"/>
          </a:xfrm>
        </p:spPr>
        <p:txBody>
          <a:bodyPr>
            <a:normAutofit fontScale="85000" lnSpcReduction="20000"/>
          </a:bodyPr>
          <a:lstStyle/>
          <a:p>
            <a:r>
              <a:rPr lang="en-IN" dirty="0"/>
              <a:t>Agriculture is one of the most important sectors contributing to the economy and food production across the world. With the increasing demand for food due to rapid population growth, farmers are under constant pressure to maximize crop productivity while maintaining soil fertility and efficient resource utilization. Selecting the appropriate crop based on soil characteristics and climatic conditions is a critical factor that directly influences agricultural output. However, unpredictable weather patterns, changing environmental conditions, and limited knowledge about soil nutrients often make crop selection a difficult task. These challenges have motivated researchers to develop intelligent decision-support systems using machine learning techniques to assist farmers in selecting suitable crops. Machine learning has become an effective solution in precision agriculture because of its ability to </a:t>
            </a:r>
            <a:r>
              <a:rPr lang="en-IN" dirty="0" err="1"/>
              <a:t>analyze</a:t>
            </a:r>
            <a:r>
              <a:rPr lang="en-IN" dirty="0"/>
              <a:t> large volumes of agricultural data and identify complex relationships among various environmental factors. </a:t>
            </a:r>
          </a:p>
          <a:p>
            <a:r>
              <a:rPr lang="en-IN" dirty="0"/>
              <a:t>This project employs two widely used machine learning algorithms: Random Forest and Naive Bayes. Random Forest is an ensemble learning algorithm that constructs multiple decision trees and combines their predictions to improve classification accuracy while reducing overfitting. Naive Bayes is a probabilistic classifier based on Bayes' theorem that assumes independence among features, making it simple, fast, and effective for classification problems. The proposed Crop Recommendation System </a:t>
            </a:r>
            <a:r>
              <a:rPr lang="en-IN" dirty="0" err="1"/>
              <a:t>analyzes</a:t>
            </a:r>
            <a:r>
              <a:rPr lang="en-IN" dirty="0"/>
              <a:t> important agricultural parameters such as nitrogen, phosphorus, potassium, temperature, humidity, pH, and rainfall to predict the most suitable crop for cultivation. By comparing the performance of Random Forest and Naive Bayes, the system identifies the algorithm that provides higher prediction accuracy and better recommendation capability, thereby supporting farmers in making data-driven agricultural decisions and improving overall crop productivity.</a:t>
            </a:r>
          </a:p>
        </p:txBody>
      </p:sp>
    </p:spTree>
    <p:extLst>
      <p:ext uri="{BB962C8B-B14F-4D97-AF65-F5344CB8AC3E}">
        <p14:creationId xmlns:p14="http://schemas.microsoft.com/office/powerpoint/2010/main" val="283191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3788" y="0"/>
            <a:ext cx="10131425" cy="609600"/>
          </a:xfrm>
        </p:spPr>
        <p:txBody>
          <a:bodyPr>
            <a:normAutofit fontScale="90000"/>
          </a:bodyPr>
          <a:lstStyle/>
          <a:p>
            <a:pPr algn="ctr"/>
            <a:r>
              <a:rPr lang="en-US" dirty="0"/>
              <a:t>REQUIREMENT ANALYSIS </a:t>
            </a:r>
            <a:endParaRPr lang="en-IN" dirty="0"/>
          </a:p>
        </p:txBody>
      </p:sp>
      <p:pic>
        <p:nvPicPr>
          <p:cNvPr id="5" name="Content Placeholder 4">
            <a:extLst>
              <a:ext uri="{FF2B5EF4-FFF2-40B4-BE49-F238E27FC236}">
                <a16:creationId xmlns:a16="http://schemas.microsoft.com/office/drawing/2014/main" id="{C628874E-2C6B-F856-B6CE-613B00DCDF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9191" y="710040"/>
            <a:ext cx="11133617" cy="5437919"/>
          </a:xfrm>
          <a:prstGeom prst="rect">
            <a:avLst/>
          </a:prstGeom>
        </p:spPr>
      </p:pic>
    </p:spTree>
    <p:extLst>
      <p:ext uri="{BB962C8B-B14F-4D97-AF65-F5344CB8AC3E}">
        <p14:creationId xmlns:p14="http://schemas.microsoft.com/office/powerpoint/2010/main" val="3818202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20 Literature papers </a:t>
            </a:r>
            <a:endParaRPr lang="en-IN" dirty="0"/>
          </a:p>
        </p:txBody>
      </p:sp>
      <p:pic>
        <p:nvPicPr>
          <p:cNvPr id="9" name="Content Placeholder 8">
            <a:extLst>
              <a:ext uri="{FF2B5EF4-FFF2-40B4-BE49-F238E27FC236}">
                <a16:creationId xmlns:a16="http://schemas.microsoft.com/office/drawing/2014/main" id="{28FB76B5-68AA-8663-A715-DD0D4438B2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451798"/>
            <a:ext cx="12192000" cy="2533378"/>
          </a:xfrm>
          <a:prstGeom prst="rect">
            <a:avLst/>
          </a:prstGeom>
        </p:spPr>
      </p:pic>
    </p:spTree>
    <p:extLst>
      <p:ext uri="{BB962C8B-B14F-4D97-AF65-F5344CB8AC3E}">
        <p14:creationId xmlns:p14="http://schemas.microsoft.com/office/powerpoint/2010/main" val="3943080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042" y="0"/>
            <a:ext cx="10131425" cy="1456267"/>
          </a:xfrm>
        </p:spPr>
        <p:txBody>
          <a:bodyPr/>
          <a:lstStyle/>
          <a:p>
            <a:pPr algn="ctr"/>
            <a:r>
              <a:rPr lang="en-US" dirty="0"/>
              <a:t> DATASET Description</a:t>
            </a:r>
            <a:endParaRPr lang="en-IN" dirty="0"/>
          </a:p>
        </p:txBody>
      </p:sp>
      <p:sp>
        <p:nvSpPr>
          <p:cNvPr id="3" name="Content Placeholder 2"/>
          <p:cNvSpPr>
            <a:spLocks noGrp="1"/>
          </p:cNvSpPr>
          <p:nvPr>
            <p:ph idx="1"/>
          </p:nvPr>
        </p:nvSpPr>
        <p:spPr>
          <a:xfrm>
            <a:off x="192593" y="1830568"/>
            <a:ext cx="11806813" cy="3649133"/>
          </a:xfrm>
        </p:spPr>
        <p:txBody>
          <a:bodyPr>
            <a:noAutofit/>
          </a:bodyPr>
          <a:lstStyle/>
          <a:p>
            <a:pPr lvl="0"/>
            <a:r>
              <a:rPr lang="en-IN" dirty="0"/>
              <a:t>The </a:t>
            </a:r>
            <a:r>
              <a:rPr lang="en-IN" b="1" dirty="0"/>
              <a:t>Crop Recommendation dataset</a:t>
            </a:r>
            <a:r>
              <a:rPr lang="en-IN" dirty="0"/>
              <a:t> used in this project contains </a:t>
            </a:r>
            <a:r>
              <a:rPr lang="en-IN" b="1" dirty="0"/>
              <a:t>2,200 records and 8 attributes</a:t>
            </a:r>
            <a:r>
              <a:rPr lang="en-IN" dirty="0"/>
              <a:t>. </a:t>
            </a:r>
          </a:p>
          <a:p>
            <a:pPr lvl="0"/>
            <a:r>
              <a:rPr lang="en-IN" dirty="0"/>
              <a:t>The dataset consists of </a:t>
            </a:r>
            <a:r>
              <a:rPr lang="en-IN" b="1" dirty="0"/>
              <a:t>7 agricultural and environmental input features</a:t>
            </a:r>
            <a:r>
              <a:rPr lang="en-IN" dirty="0"/>
              <a:t>: </a:t>
            </a:r>
            <a:r>
              <a:rPr lang="en-IN" b="1" dirty="0"/>
              <a:t>Nitrogen (N), Phosphorus (P), Potassium (K), Temperature, Humidity, Soil pH, and Rainfall</a:t>
            </a:r>
            <a:r>
              <a:rPr lang="en-IN" dirty="0"/>
              <a:t>. </a:t>
            </a:r>
          </a:p>
          <a:p>
            <a:pPr lvl="0"/>
            <a:r>
              <a:rPr lang="en-IN" dirty="0"/>
              <a:t>The dataset contains </a:t>
            </a:r>
            <a:r>
              <a:rPr lang="en-IN" b="1" dirty="0"/>
              <a:t>22 different crop classes</a:t>
            </a:r>
            <a:r>
              <a:rPr lang="en-IN" dirty="0"/>
              <a:t>, including rice, maize, chickpea, </a:t>
            </a:r>
            <a:r>
              <a:rPr lang="en-IN" dirty="0" err="1"/>
              <a:t>kidneybeans</a:t>
            </a:r>
            <a:r>
              <a:rPr lang="en-IN" dirty="0"/>
              <a:t>, </a:t>
            </a:r>
            <a:r>
              <a:rPr lang="en-IN" dirty="0" err="1"/>
              <a:t>pigeonpeas</a:t>
            </a:r>
            <a:r>
              <a:rPr lang="en-IN" dirty="0"/>
              <a:t>, </a:t>
            </a:r>
            <a:r>
              <a:rPr lang="en-IN" dirty="0" err="1"/>
              <a:t>mothbeans</a:t>
            </a:r>
            <a:r>
              <a:rPr lang="en-IN" dirty="0"/>
              <a:t>, </a:t>
            </a:r>
            <a:r>
              <a:rPr lang="en-IN" dirty="0" err="1"/>
              <a:t>mungbean</a:t>
            </a:r>
            <a:r>
              <a:rPr lang="en-IN" dirty="0"/>
              <a:t>, </a:t>
            </a:r>
            <a:r>
              <a:rPr lang="en-IN" dirty="0" err="1"/>
              <a:t>blackgram</a:t>
            </a:r>
            <a:r>
              <a:rPr lang="en-IN" dirty="0"/>
              <a:t>, lentil, pomegranate, banana, mango, grapes, watermelon, muskmelon, apple, orange, papaya, coconut, cotton, jute, and coffee. </a:t>
            </a:r>
          </a:p>
          <a:p>
            <a:pPr lvl="0"/>
            <a:r>
              <a:rPr lang="en-IN" dirty="0"/>
              <a:t>Each crop class contains approximately </a:t>
            </a:r>
            <a:r>
              <a:rPr lang="en-IN" b="1" dirty="0"/>
              <a:t>100 records</a:t>
            </a:r>
            <a:r>
              <a:rPr lang="en-IN" dirty="0"/>
              <a:t>, making the dataset </a:t>
            </a:r>
            <a:r>
              <a:rPr lang="en-IN" b="1" dirty="0"/>
              <a:t>balanced across the crop categories</a:t>
            </a:r>
            <a:r>
              <a:rPr lang="en-IN" dirty="0"/>
              <a:t>. </a:t>
            </a:r>
          </a:p>
          <a:p>
            <a:pPr lvl="0"/>
            <a:r>
              <a:rPr lang="en-IN" dirty="0"/>
              <a:t>The dataset contains </a:t>
            </a:r>
            <a:r>
              <a:rPr lang="en-IN" b="1" dirty="0"/>
              <a:t>numerical input attributes</a:t>
            </a:r>
            <a:r>
              <a:rPr lang="en-IN" dirty="0"/>
              <a:t> and a </a:t>
            </a:r>
            <a:r>
              <a:rPr lang="en-IN" b="1" dirty="0"/>
              <a:t>categorical target variable (label)</a:t>
            </a:r>
            <a:r>
              <a:rPr lang="en-IN" dirty="0"/>
              <a:t>, making it suitable for </a:t>
            </a:r>
            <a:r>
              <a:rPr lang="en-IN" b="1" dirty="0"/>
              <a:t>multi-class classification</a:t>
            </a:r>
            <a:r>
              <a:rPr lang="en-IN" dirty="0"/>
              <a:t>. </a:t>
            </a:r>
          </a:p>
          <a:p>
            <a:pPr lvl="0"/>
            <a:r>
              <a:rPr lang="en-IN" dirty="0"/>
              <a:t>The dataset is used to train and evaluate </a:t>
            </a:r>
            <a:r>
              <a:rPr lang="en-IN" b="1" dirty="0"/>
              <a:t>Random Forest and Naive Bayes</a:t>
            </a:r>
            <a:r>
              <a:rPr lang="en-IN" dirty="0"/>
              <a:t> machine learning algorithms for crop recommendation. </a:t>
            </a:r>
          </a:p>
          <a:p>
            <a:pPr lvl="0"/>
            <a:r>
              <a:rPr lang="en-IN" dirty="0"/>
              <a:t>Since the dataset is already balanced, </a:t>
            </a:r>
            <a:r>
              <a:rPr lang="en-IN" b="1" dirty="0"/>
              <a:t>SMOTE and random </a:t>
            </a:r>
            <a:r>
              <a:rPr lang="en-IN" b="1" dirty="0" err="1"/>
              <a:t>undersampling</a:t>
            </a:r>
            <a:r>
              <a:rPr lang="en-IN" b="1" dirty="0"/>
              <a:t> are not required</a:t>
            </a:r>
            <a:r>
              <a:rPr lang="en-IN" dirty="0"/>
              <a:t>. </a:t>
            </a:r>
          </a:p>
          <a:p>
            <a:pPr lvl="0"/>
            <a:r>
              <a:rPr lang="en-IN" dirty="0"/>
              <a:t>The models can be evaluated using </a:t>
            </a:r>
            <a:r>
              <a:rPr lang="en-IN" b="1" dirty="0"/>
              <a:t>accuracy, precision, recall, F1-score, and confusion matrix</a:t>
            </a:r>
            <a:r>
              <a:rPr lang="en-IN" dirty="0"/>
              <a:t>.</a:t>
            </a:r>
          </a:p>
        </p:txBody>
      </p:sp>
    </p:spTree>
    <p:extLst>
      <p:ext uri="{BB962C8B-B14F-4D97-AF65-F5344CB8AC3E}">
        <p14:creationId xmlns:p14="http://schemas.microsoft.com/office/powerpoint/2010/main" val="826340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13817" y="2895600"/>
            <a:ext cx="10131425" cy="1456267"/>
          </a:xfrm>
        </p:spPr>
        <p:txBody>
          <a:bodyPr/>
          <a:lstStyle/>
          <a:p>
            <a:pPr algn="ctr"/>
            <a:r>
              <a:rPr lang="en-US" dirty="0"/>
              <a:t>THANK YOU </a:t>
            </a:r>
            <a:endParaRPr lang="en-IN" dirty="0"/>
          </a:p>
        </p:txBody>
      </p:sp>
    </p:spTree>
    <p:extLst>
      <p:ext uri="{BB962C8B-B14F-4D97-AF65-F5344CB8AC3E}">
        <p14:creationId xmlns:p14="http://schemas.microsoft.com/office/powerpoint/2010/main" val="26005686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440</TotalTime>
  <Words>805</Words>
  <Application>Microsoft Office PowerPoint</Application>
  <PresentationFormat>Widescreen</PresentationFormat>
  <Paragraphs>33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Celestial</vt:lpstr>
      <vt:lpstr>Crop Recommendation System Using Random Forest and Naive Bayes</vt:lpstr>
      <vt:lpstr>CONTENTS</vt:lpstr>
      <vt:lpstr>ABSTRACT</vt:lpstr>
      <vt:lpstr>INTRODUCTION</vt:lpstr>
      <vt:lpstr>REQUIREMENT ANALYSIS </vt:lpstr>
      <vt:lpstr>20 Literature papers </vt:lpstr>
      <vt:lpstr> DATASET Description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Advertising IMPACT ANALYSIS</dc:title>
  <dc:creator>Sai Surendra</dc:creator>
  <cp:lastModifiedBy>ramya sri</cp:lastModifiedBy>
  <cp:revision>43</cp:revision>
  <dcterms:created xsi:type="dcterms:W3CDTF">2026-06-10T13:51:49Z</dcterms:created>
  <dcterms:modified xsi:type="dcterms:W3CDTF">2026-08-25T06:51:20Z</dcterms:modified>
</cp:coreProperties>
</file>